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lice" charset="1" panose="00000500000000000000"/>
      <p:regular r:id="rId13"/>
    </p:embeddedFont>
    <p:embeddedFont>
      <p:font typeface="Lora" charset="1" panose="00000500000000000000"/>
      <p:regular r:id="rId14"/>
    </p:embeddedFont>
    <p:embeddedFont>
      <p:font typeface="RhymeTH" charset="1" panose="02000000000000000000"/>
      <p:regular r:id="rId15"/>
    </p:embeddedFont>
    <p:embeddedFont>
      <p:font typeface="RoxboroughCF" charset="1" panose="00000500000000000000"/>
      <p:regular r:id="rId16"/>
    </p:embeddedFont>
    <p:embeddedFont>
      <p:font typeface="RoxboroughCF Medium" charset="1" panose="000006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buckets almacenan las carpetas y videos necesarios (mp4)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31485" y="3832976"/>
            <a:ext cx="13025030" cy="177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46"/>
              </a:lnSpc>
            </a:pPr>
            <a:r>
              <a:rPr lang="en-US" sz="13963" spc="558">
                <a:solidFill>
                  <a:srgbClr val="3B2615"/>
                </a:solidFill>
                <a:latin typeface="Alice"/>
                <a:ea typeface="Alice"/>
                <a:cs typeface="Alice"/>
                <a:sym typeface="Alice"/>
              </a:rPr>
              <a:t>VigilIA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064642" y="-3144296"/>
            <a:ext cx="5042388" cy="5989878"/>
          </a:xfrm>
          <a:custGeom>
            <a:avLst/>
            <a:gdLst/>
            <a:ahLst/>
            <a:cxnLst/>
            <a:rect r="r" b="b" t="t" l="l"/>
            <a:pathLst>
              <a:path h="5989878" w="5042388">
                <a:moveTo>
                  <a:pt x="0" y="0"/>
                </a:moveTo>
                <a:lnTo>
                  <a:pt x="5042388" y="0"/>
                </a:lnTo>
                <a:lnTo>
                  <a:pt x="5042388" y="5989878"/>
                </a:lnTo>
                <a:lnTo>
                  <a:pt x="0" y="5989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93151" y="7941645"/>
            <a:ext cx="9701697" cy="106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6"/>
              </a:lnSpc>
            </a:pPr>
            <a:r>
              <a:rPr lang="en-US" sz="3054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ANGELO CURIN, GERARD JIMÉNEZ, ANAELÍ NEIRA</a:t>
            </a:r>
          </a:p>
          <a:p>
            <a:pPr algn="ctr">
              <a:lnSpc>
                <a:spcPts val="4276"/>
              </a:lnSpc>
            </a:pPr>
            <a:r>
              <a:rPr lang="en-US" sz="3054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PROFESOR: RODOLFO SEPULVEDA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1245" y="2428387"/>
            <a:ext cx="14385511" cy="87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6000" spc="240">
                <a:solidFill>
                  <a:srgbClr val="FFFFFF"/>
                </a:solidFill>
                <a:latin typeface="RhymeTH"/>
                <a:ea typeface="RhymeTH"/>
                <a:cs typeface="RhymeTH"/>
                <a:sym typeface="RhymeTH"/>
              </a:rPr>
              <a:t>Monitoreo inteligente tranquilidad para tu familia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267363">
            <a:off x="-2366507" y="6400258"/>
            <a:ext cx="5042388" cy="5989878"/>
          </a:xfrm>
          <a:custGeom>
            <a:avLst/>
            <a:gdLst/>
            <a:ahLst/>
            <a:cxnLst/>
            <a:rect r="r" b="b" t="t" l="l"/>
            <a:pathLst>
              <a:path h="5989878" w="5042388">
                <a:moveTo>
                  <a:pt x="0" y="0"/>
                </a:moveTo>
                <a:lnTo>
                  <a:pt x="5042388" y="0"/>
                </a:lnTo>
                <a:lnTo>
                  <a:pt x="5042388" y="5989878"/>
                </a:lnTo>
                <a:lnTo>
                  <a:pt x="0" y="5989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18286" y="9709699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51047" y="459598"/>
            <a:ext cx="8385906" cy="28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87594" y="1571625"/>
            <a:ext cx="11112811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Resumen Ejecutivo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9407" y="8380474"/>
            <a:ext cx="4420892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Reducción de riesgos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85380" y="3591789"/>
            <a:ext cx="7719869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 Déficit de establecimientos especializados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9052" y="3591789"/>
            <a:ext cx="8289512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buFont typeface="Arial"/>
              <a:buChar char="•"/>
            </a:pPr>
            <a:r>
              <a:rPr lang="en-US" sz="26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Aumento de la población de adultos mayores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787" y="4755701"/>
            <a:ext cx="5200501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Mayoría vive con sus familias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5380" y="4755701"/>
            <a:ext cx="81153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Pérdida de autonomía y riesgos de salud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9052" y="5919656"/>
            <a:ext cx="8088802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Desgaste emocional y físico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67853" y="5919656"/>
            <a:ext cx="4602405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Aplicación web y móvil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68563" y="8343791"/>
            <a:ext cx="6212681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Respuesta rápida ante emergencias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4787" y="7132211"/>
            <a:ext cx="5133677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ntegración con las cámaras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8208" y="7132211"/>
            <a:ext cx="7737872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etecta caídas, envía alertas y recordatorios 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-588534">
            <a:off x="9113141" y="506826"/>
            <a:ext cx="4314276" cy="5024568"/>
            <a:chOff x="0" y="0"/>
            <a:chExt cx="13561060" cy="15793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0" y="508000"/>
              <a:ext cx="12052300" cy="14707870"/>
            </a:xfrm>
            <a:custGeom>
              <a:avLst/>
              <a:gdLst/>
              <a:ahLst/>
              <a:cxnLst/>
              <a:rect r="r" b="b" t="t" l="l"/>
              <a:pathLst>
                <a:path h="14707870" w="12052300">
                  <a:moveTo>
                    <a:pt x="10295890" y="14707870"/>
                  </a:moveTo>
                  <a:lnTo>
                    <a:pt x="0" y="13376911"/>
                  </a:lnTo>
                  <a:lnTo>
                    <a:pt x="1756410" y="0"/>
                  </a:lnTo>
                  <a:lnTo>
                    <a:pt x="12052300" y="1330960"/>
                  </a:lnTo>
                  <a:lnTo>
                    <a:pt x="10295890" y="14707870"/>
                  </a:lnTo>
                  <a:close/>
                </a:path>
              </a:pathLst>
            </a:custGeom>
            <a:blipFill>
              <a:blip r:embed="rId3"/>
              <a:stretch>
                <a:fillRect l="-2163" t="0" r="-2163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-21590"/>
              <a:ext cx="13561061" cy="15815310"/>
            </a:xfrm>
            <a:custGeom>
              <a:avLst/>
              <a:gdLst/>
              <a:ahLst/>
              <a:cxnLst/>
              <a:rect r="r" b="b" t="t" l="l"/>
              <a:pathLst>
                <a:path h="15815310" w="13561061">
                  <a:moveTo>
                    <a:pt x="13561061" y="15815310"/>
                  </a:moveTo>
                  <a:lnTo>
                    <a:pt x="0" y="15815310"/>
                  </a:lnTo>
                  <a:lnTo>
                    <a:pt x="0" y="0"/>
                  </a:lnTo>
                  <a:lnTo>
                    <a:pt x="13561061" y="0"/>
                  </a:lnTo>
                  <a:lnTo>
                    <a:pt x="13561061" y="15815310"/>
                  </a:lnTo>
                  <a:close/>
                </a:path>
              </a:pathLst>
            </a:custGeom>
            <a:blipFill>
              <a:blip r:embed="rId4"/>
              <a:stretch>
                <a:fillRect l="0" t="-144" r="0" b="-144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823777" y="4584419"/>
            <a:ext cx="4896443" cy="5702581"/>
            <a:chOff x="0" y="0"/>
            <a:chExt cx="13561060" cy="15793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8000" y="508000"/>
              <a:ext cx="12052300" cy="14707870"/>
            </a:xfrm>
            <a:custGeom>
              <a:avLst/>
              <a:gdLst/>
              <a:ahLst/>
              <a:cxnLst/>
              <a:rect r="r" b="b" t="t" l="l"/>
              <a:pathLst>
                <a:path h="14707870" w="12052300">
                  <a:moveTo>
                    <a:pt x="10295890" y="14707870"/>
                  </a:moveTo>
                  <a:lnTo>
                    <a:pt x="0" y="13376911"/>
                  </a:lnTo>
                  <a:lnTo>
                    <a:pt x="1756410" y="0"/>
                  </a:lnTo>
                  <a:lnTo>
                    <a:pt x="12052300" y="1330960"/>
                  </a:lnTo>
                  <a:lnTo>
                    <a:pt x="10295890" y="14707870"/>
                  </a:lnTo>
                  <a:close/>
                </a:path>
              </a:pathLst>
            </a:custGeom>
            <a:blipFill>
              <a:blip r:embed="rId5"/>
              <a:stretch>
                <a:fillRect l="-34475" t="0" r="-562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-21590"/>
              <a:ext cx="13561061" cy="15815310"/>
            </a:xfrm>
            <a:custGeom>
              <a:avLst/>
              <a:gdLst/>
              <a:ahLst/>
              <a:cxnLst/>
              <a:rect r="r" b="b" t="t" l="l"/>
              <a:pathLst>
                <a:path h="15815310" w="13561061">
                  <a:moveTo>
                    <a:pt x="13561061" y="15815310"/>
                  </a:moveTo>
                  <a:lnTo>
                    <a:pt x="0" y="15815310"/>
                  </a:lnTo>
                  <a:lnTo>
                    <a:pt x="0" y="0"/>
                  </a:lnTo>
                  <a:lnTo>
                    <a:pt x="13561061" y="0"/>
                  </a:lnTo>
                  <a:lnTo>
                    <a:pt x="13561061" y="15815310"/>
                  </a:lnTo>
                  <a:close/>
                </a:path>
              </a:pathLst>
            </a:custGeom>
            <a:blipFill>
              <a:blip r:embed="rId4"/>
              <a:stretch>
                <a:fillRect l="0" t="-144" r="0" b="-144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-997673">
            <a:off x="13139931" y="129290"/>
            <a:ext cx="4314276" cy="5024568"/>
            <a:chOff x="0" y="0"/>
            <a:chExt cx="13561060" cy="15793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8000" y="508000"/>
              <a:ext cx="12052300" cy="14707870"/>
            </a:xfrm>
            <a:custGeom>
              <a:avLst/>
              <a:gdLst/>
              <a:ahLst/>
              <a:cxnLst/>
              <a:rect r="r" b="b" t="t" l="l"/>
              <a:pathLst>
                <a:path h="14707870" w="12052300">
                  <a:moveTo>
                    <a:pt x="10295890" y="14707870"/>
                  </a:moveTo>
                  <a:lnTo>
                    <a:pt x="0" y="13376911"/>
                  </a:lnTo>
                  <a:lnTo>
                    <a:pt x="1756410" y="0"/>
                  </a:lnTo>
                  <a:lnTo>
                    <a:pt x="12052300" y="1330960"/>
                  </a:lnTo>
                  <a:lnTo>
                    <a:pt x="10295890" y="14707870"/>
                  </a:lnTo>
                  <a:close/>
                </a:path>
              </a:pathLst>
            </a:custGeom>
            <a:blipFill>
              <a:blip r:embed="rId6"/>
              <a:stretch>
                <a:fillRect l="0" t="0" r="-9740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-21590"/>
              <a:ext cx="13561061" cy="15815310"/>
            </a:xfrm>
            <a:custGeom>
              <a:avLst/>
              <a:gdLst/>
              <a:ahLst/>
              <a:cxnLst/>
              <a:rect r="r" b="b" t="t" l="l"/>
              <a:pathLst>
                <a:path h="15815310" w="13561061">
                  <a:moveTo>
                    <a:pt x="13561061" y="15815310"/>
                  </a:moveTo>
                  <a:lnTo>
                    <a:pt x="0" y="15815310"/>
                  </a:lnTo>
                  <a:lnTo>
                    <a:pt x="0" y="0"/>
                  </a:lnTo>
                  <a:lnTo>
                    <a:pt x="13561061" y="0"/>
                  </a:lnTo>
                  <a:lnTo>
                    <a:pt x="13561061" y="15815310"/>
                  </a:lnTo>
                  <a:close/>
                </a:path>
              </a:pathLst>
            </a:custGeom>
            <a:blipFill>
              <a:blip r:embed="rId4"/>
              <a:stretch>
                <a:fillRect l="0" t="-144" r="0" b="-14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1260593" y="3019110"/>
            <a:ext cx="6913898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94635" y="1361628"/>
            <a:ext cx="7015342" cy="118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7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Solución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0471" y="3661509"/>
            <a:ext cx="7849365" cy="467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390" indent="-338695" lvl="1">
              <a:lnSpc>
                <a:spcPts val="4706"/>
              </a:lnSpc>
              <a:buFont typeface="Arial"/>
              <a:buChar char="•"/>
            </a:pPr>
            <a:r>
              <a:rPr lang="en-US" sz="3137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Sistema de monitoreo y alerta para adultos mayores</a:t>
            </a:r>
          </a:p>
          <a:p>
            <a:pPr algn="l">
              <a:lnSpc>
                <a:spcPts val="4706"/>
              </a:lnSpc>
            </a:pPr>
          </a:p>
          <a:p>
            <a:pPr algn="l" marL="677390" indent="-338695" lvl="1">
              <a:lnSpc>
                <a:spcPts val="4706"/>
              </a:lnSpc>
              <a:buFont typeface="Arial"/>
              <a:buChar char="•"/>
            </a:pPr>
            <a:r>
              <a:rPr lang="en-US" sz="3137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Reconocimiento de imágenes</a:t>
            </a:r>
          </a:p>
          <a:p>
            <a:pPr algn="l">
              <a:lnSpc>
                <a:spcPts val="4706"/>
              </a:lnSpc>
            </a:pPr>
          </a:p>
          <a:p>
            <a:pPr algn="l" marL="677390" indent="-338695" lvl="1">
              <a:lnSpc>
                <a:spcPts val="4706"/>
              </a:lnSpc>
              <a:buFont typeface="Arial"/>
              <a:buChar char="•"/>
            </a:pPr>
            <a:r>
              <a:rPr lang="en-US" sz="3137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Enviar notificaciones personalizadas </a:t>
            </a:r>
          </a:p>
          <a:p>
            <a:pPr algn="l">
              <a:lnSpc>
                <a:spcPts val="4706"/>
              </a:lnSpc>
            </a:pPr>
          </a:p>
          <a:p>
            <a:pPr algn="l" marL="677390" indent="-338695" lvl="1">
              <a:lnSpc>
                <a:spcPts val="4706"/>
              </a:lnSpc>
              <a:buFont typeface="Arial"/>
              <a:buChar char="•"/>
            </a:pPr>
            <a:r>
              <a:rPr lang="en-US" sz="3137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Generar alertas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73493" y="9779854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547660" y="1531958"/>
            <a:ext cx="11192681" cy="7758925"/>
          </a:xfrm>
          <a:custGeom>
            <a:avLst/>
            <a:gdLst/>
            <a:ahLst/>
            <a:cxnLst/>
            <a:rect r="r" b="b" t="t" l="l"/>
            <a:pathLst>
              <a:path h="7758925" w="11192681">
                <a:moveTo>
                  <a:pt x="0" y="0"/>
                </a:moveTo>
                <a:lnTo>
                  <a:pt x="11192680" y="0"/>
                </a:lnTo>
                <a:lnTo>
                  <a:pt x="11192680" y="7758925"/>
                </a:lnTo>
                <a:lnTo>
                  <a:pt x="0" y="7758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5" r="0" b="-98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1047" y="459598"/>
            <a:ext cx="8385906" cy="28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7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242101" y="2902018"/>
          <a:ext cx="5143500" cy="3143250"/>
        </p:xfrm>
        <a:graphic>
          <a:graphicData uri="http://schemas.openxmlformats.org/presentationml/2006/ole">
            <p:oleObj imgW="6172200" imgH="4165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736166" y="749656"/>
            <a:ext cx="14815668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b="true" sz="8799" spc="-290">
                <a:solidFill>
                  <a:srgbClr val="3B2615"/>
                </a:solidFill>
                <a:latin typeface="RoxboroughCF Medium"/>
                <a:ea typeface="RoxboroughCF Medium"/>
                <a:cs typeface="RoxboroughCF Medium"/>
                <a:sym typeface="RoxboroughCF Medium"/>
              </a:rPr>
              <a:t>Evaluación económica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7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0029" y="591601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434620" y="1996034"/>
            <a:ext cx="10842638" cy="7942232"/>
          </a:xfrm>
          <a:custGeom>
            <a:avLst/>
            <a:gdLst/>
            <a:ahLst/>
            <a:cxnLst/>
            <a:rect r="r" b="b" t="t" l="l"/>
            <a:pathLst>
              <a:path h="7942232" w="10842638">
                <a:moveTo>
                  <a:pt x="0" y="0"/>
                </a:moveTo>
                <a:lnTo>
                  <a:pt x="10842638" y="0"/>
                </a:lnTo>
                <a:lnTo>
                  <a:pt x="10842638" y="7942232"/>
                </a:lnTo>
                <a:lnTo>
                  <a:pt x="0" y="7942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51047" y="166141"/>
            <a:ext cx="8385906" cy="28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6166" y="749656"/>
            <a:ext cx="14815668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b="true" sz="8799" spc="-290">
                <a:solidFill>
                  <a:srgbClr val="3B2615"/>
                </a:solidFill>
                <a:latin typeface="RoxboroughCF Medium"/>
                <a:ea typeface="RoxboroughCF Medium"/>
                <a:cs typeface="RoxboroughCF Medium"/>
                <a:sym typeface="RoxboroughCF Medium"/>
              </a:rPr>
              <a:t>Diagrama de Despliegue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277482" y="9248775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51047" y="459598"/>
            <a:ext cx="8385906" cy="28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6772" y="1571625"/>
            <a:ext cx="14642435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48761" y="3221071"/>
            <a:ext cx="10998456" cy="356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3"/>
              </a:lnSpc>
            </a:pPr>
            <a:r>
              <a:rPr lang="en-US" sz="36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Innovación y mejora de calidad de vida</a:t>
            </a:r>
          </a:p>
          <a:p>
            <a:pPr algn="l">
              <a:lnSpc>
                <a:spcPts val="7243"/>
              </a:lnSpc>
            </a:pPr>
            <a:r>
              <a:rPr lang="en-US" sz="36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Demostrar evaluación económica del proyecto.</a:t>
            </a:r>
          </a:p>
          <a:p>
            <a:pPr algn="l">
              <a:lnSpc>
                <a:spcPts val="7243"/>
              </a:lnSpc>
            </a:pPr>
            <a:r>
              <a:rPr lang="en-US" sz="36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Revisar avances y diagramas del proyecto.</a:t>
            </a:r>
          </a:p>
          <a:p>
            <a:pPr algn="l">
              <a:lnSpc>
                <a:spcPts val="7243"/>
              </a:lnSpc>
            </a:pPr>
            <a:r>
              <a:rPr lang="en-US" sz="36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Herramienta escalable y sostenible.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DAG3ZZppy3k</dc:identifier>
  <dcterms:modified xsi:type="dcterms:W3CDTF">2011-08-01T06:04:30Z</dcterms:modified>
  <cp:revision>1</cp:revision>
  <dc:title>Capstone Entrega 3</dc:title>
</cp:coreProperties>
</file>