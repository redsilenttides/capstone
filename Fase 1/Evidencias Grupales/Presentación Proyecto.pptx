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lice" charset="1" panose="00000500000000000000"/>
      <p:regular r:id="rId22"/>
    </p:embeddedFont>
    <p:embeddedFont>
      <p:font typeface="Lora" charset="1" panose="00000500000000000000"/>
      <p:regular r:id="rId23"/>
    </p:embeddedFont>
    <p:embeddedFont>
      <p:font typeface="RhymeTH" charset="1" panose="02000000000000000000"/>
      <p:regular r:id="rId24"/>
    </p:embeddedFont>
    <p:embeddedFont>
      <p:font typeface="RoxboroughCF" charset="1" panose="00000500000000000000"/>
      <p:regular r:id="rId25"/>
    </p:embeddedFont>
    <p:embeddedFont>
      <p:font typeface="Distillery Strong" charset="1" panose="00000000000000000000"/>
      <p:regular r:id="rId26"/>
    </p:embeddedFont>
    <p:embeddedFont>
      <p:font typeface="Lora Bold" charset="1" panose="00000800000000000000"/>
      <p:regular r:id="rId27"/>
    </p:embeddedFont>
    <p:embeddedFont>
      <p:font typeface="RoxboroughCF Medium" charset="1" panose="00000600000000000000"/>
      <p:regular r:id="rId28"/>
    </p:embeddedFont>
    <p:embeddedFont>
      <p:font typeface="Lora Bold Italics" charset="1" panose="000008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31485" y="3832976"/>
            <a:ext cx="13025030" cy="177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46"/>
              </a:lnSpc>
            </a:pPr>
            <a:r>
              <a:rPr lang="en-US" sz="13963" spc="558">
                <a:solidFill>
                  <a:srgbClr val="3B2615"/>
                </a:solidFill>
                <a:latin typeface="Alice"/>
                <a:ea typeface="Alice"/>
                <a:cs typeface="Alice"/>
                <a:sym typeface="Alice"/>
              </a:rPr>
              <a:t>VigilIA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064642" y="-3144296"/>
            <a:ext cx="5042388" cy="5989878"/>
          </a:xfrm>
          <a:custGeom>
            <a:avLst/>
            <a:gdLst/>
            <a:ahLst/>
            <a:cxnLst/>
            <a:rect r="r" b="b" t="t" l="l"/>
            <a:pathLst>
              <a:path h="5989878" w="5042388">
                <a:moveTo>
                  <a:pt x="0" y="0"/>
                </a:moveTo>
                <a:lnTo>
                  <a:pt x="5042388" y="0"/>
                </a:lnTo>
                <a:lnTo>
                  <a:pt x="5042388" y="5989878"/>
                </a:lnTo>
                <a:lnTo>
                  <a:pt x="0" y="5989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93151" y="7941645"/>
            <a:ext cx="9701697" cy="106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6"/>
              </a:lnSpc>
            </a:pPr>
            <a:r>
              <a:rPr lang="en-US" sz="3054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ANGELO CURIN, GERARD JIMÉNEZ, ANAELÍ NEIRA</a:t>
            </a:r>
          </a:p>
          <a:p>
            <a:pPr algn="ctr">
              <a:lnSpc>
                <a:spcPts val="4276"/>
              </a:lnSpc>
            </a:pPr>
            <a:r>
              <a:rPr lang="en-US" sz="3054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RODOLFO SEPULVEDA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51245" y="2428387"/>
            <a:ext cx="14385511" cy="87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sz="6000" spc="240">
                <a:solidFill>
                  <a:srgbClr val="FFFFFF"/>
                </a:solidFill>
                <a:latin typeface="RhymeTH"/>
                <a:ea typeface="RhymeTH"/>
                <a:cs typeface="RhymeTH"/>
                <a:sym typeface="RhymeTH"/>
              </a:rPr>
              <a:t>Monitoreo inteligente tranquilidad para tu familia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267363">
            <a:off x="-2366507" y="6400258"/>
            <a:ext cx="5042388" cy="5989878"/>
          </a:xfrm>
          <a:custGeom>
            <a:avLst/>
            <a:gdLst/>
            <a:ahLst/>
            <a:cxnLst/>
            <a:rect r="r" b="b" t="t" l="l"/>
            <a:pathLst>
              <a:path h="5989878" w="5042388">
                <a:moveTo>
                  <a:pt x="0" y="0"/>
                </a:moveTo>
                <a:lnTo>
                  <a:pt x="5042388" y="0"/>
                </a:lnTo>
                <a:lnTo>
                  <a:pt x="5042388" y="5989878"/>
                </a:lnTo>
                <a:lnTo>
                  <a:pt x="0" y="59898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18286" y="9709699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87594" y="1571625"/>
            <a:ext cx="11112811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Resumen Ejecutivo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9407" y="8380474"/>
            <a:ext cx="4420892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Reducción de riesgos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85380" y="3591789"/>
            <a:ext cx="7719869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 Déficit de establecimientos especializados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9052" y="3591789"/>
            <a:ext cx="8289512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buFont typeface="Arial"/>
              <a:buChar char="•"/>
            </a:pPr>
            <a:r>
              <a:rPr lang="en-US" sz="26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Aumento de la población de adultos mayores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4787" y="4755701"/>
            <a:ext cx="5200501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Mayoría vive con sus familias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85380" y="4755701"/>
            <a:ext cx="8115300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Pérdida de autonomía y riesgos de salud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9052" y="5919656"/>
            <a:ext cx="8088802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Desgaste emocional y físico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67853" y="5919656"/>
            <a:ext cx="4602405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Aplicación web y móvil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68563" y="8343791"/>
            <a:ext cx="6212681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Respuesta rápida ante emergencias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4787" y="7132211"/>
            <a:ext cx="5133677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ntegración con las cámaras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68208" y="7132211"/>
            <a:ext cx="7737396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04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lang="en-US" sz="2699" strike="noStrike" u="none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etecta caídas, envía alertas y recordatorios 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273493" y="9684160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592195" y="598779"/>
            <a:ext cx="9504657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Tabla de contenido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86139" y="2710523"/>
            <a:ext cx="261211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Introducción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86139" y="3996959"/>
            <a:ext cx="187606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Objetivos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45231" y="2722561"/>
            <a:ext cx="2507218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Cronograma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48440" y="4054109"/>
            <a:ext cx="2804755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Hitos y plazos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7386" y="5167899"/>
            <a:ext cx="86653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EDT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97386" y="6286315"/>
            <a:ext cx="571035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Esquema de funcionamiento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62025" y="7469963"/>
            <a:ext cx="2691170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Conclusiones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86139" y="5167899"/>
            <a:ext cx="1738312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Solución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86139" y="6335818"/>
            <a:ext cx="3167777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Requerimientos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86139" y="7542060"/>
            <a:ext cx="4744164" cy="57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Declaración de alcance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07394" y="2713298"/>
            <a:ext cx="742781" cy="73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1"/>
              </a:lnSpc>
            </a:pPr>
            <a:r>
              <a:rPr lang="en-US" sz="5414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07394" y="5180480"/>
            <a:ext cx="800673" cy="717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9"/>
              </a:lnSpc>
            </a:pPr>
            <a:r>
              <a:rPr lang="en-US" sz="5267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42260" y="6346339"/>
            <a:ext cx="765807" cy="69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8"/>
              </a:lnSpc>
            </a:pPr>
            <a:r>
              <a:rPr lang="en-US" sz="5070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07394" y="7508422"/>
            <a:ext cx="765807" cy="66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</a:pPr>
            <a:r>
              <a:rPr lang="en-US" sz="4935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05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55744" y="7481538"/>
            <a:ext cx="760668" cy="73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8"/>
              </a:lnSpc>
            </a:pPr>
            <a:r>
              <a:rPr lang="en-US" sz="5544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10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61444" y="6344540"/>
            <a:ext cx="854967" cy="71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2"/>
              </a:lnSpc>
            </a:pPr>
            <a:r>
              <a:rPr lang="en-US" sz="5322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09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54465" y="5199530"/>
            <a:ext cx="798199" cy="73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5"/>
              </a:lnSpc>
            </a:pPr>
            <a:r>
              <a:rPr lang="en-US" sz="5541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08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14294" y="4013432"/>
            <a:ext cx="796020" cy="71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5343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71946" y="2732348"/>
            <a:ext cx="880718" cy="74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5535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64826" y="3979172"/>
            <a:ext cx="785348" cy="73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8"/>
              </a:lnSpc>
            </a:pPr>
            <a:r>
              <a:rPr lang="en-US" sz="5410">
                <a:solidFill>
                  <a:srgbClr val="000000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02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518286" y="9239250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53145" y="1835624"/>
            <a:ext cx="9581709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Introducción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69407" y="3894269"/>
            <a:ext cx="12549186" cy="430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9"/>
              </a:lnSpc>
            </a:pPr>
            <a:r>
              <a:rPr lang="en-US" sz="3399" b="true">
                <a:solidFill>
                  <a:srgbClr val="3B2615"/>
                </a:solidFill>
                <a:latin typeface="Lora Bold"/>
                <a:ea typeface="Lora Bold"/>
                <a:cs typeface="Lora Bold"/>
                <a:sym typeface="Lora Bold"/>
              </a:rPr>
              <a:t>Problema:</a:t>
            </a: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 Riesgo de caídas y respuesta tardía en el hogar</a:t>
            </a:r>
          </a:p>
          <a:p>
            <a:pPr algn="just">
              <a:lnSpc>
                <a:spcPts val="5099"/>
              </a:lnSpc>
            </a:pPr>
          </a:p>
          <a:p>
            <a:pPr algn="just">
              <a:lnSpc>
                <a:spcPts val="5099"/>
              </a:lnSpc>
            </a:pPr>
            <a:r>
              <a:rPr lang="en-US" sz="3399" b="true">
                <a:solidFill>
                  <a:srgbClr val="3B2615"/>
                </a:solidFill>
                <a:latin typeface="Lora Bold"/>
                <a:ea typeface="Lora Bold"/>
                <a:cs typeface="Lora Bold"/>
                <a:sym typeface="Lora Bold"/>
              </a:rPr>
              <a:t>Solución:</a:t>
            </a: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 Monitoreo por IA + alertas a cuidadores</a:t>
            </a:r>
          </a:p>
          <a:p>
            <a:pPr algn="just">
              <a:lnSpc>
                <a:spcPts val="5099"/>
              </a:lnSpc>
            </a:pPr>
          </a:p>
          <a:p>
            <a:pPr algn="just">
              <a:lnSpc>
                <a:spcPts val="5099"/>
              </a:lnSpc>
            </a:pPr>
            <a:r>
              <a:rPr lang="en-US" sz="3399" b="true">
                <a:solidFill>
                  <a:srgbClr val="3B2615"/>
                </a:solidFill>
                <a:latin typeface="Lora Bold"/>
                <a:ea typeface="Lora Bold"/>
                <a:cs typeface="Lora Bold"/>
                <a:sym typeface="Lora Bold"/>
              </a:rPr>
              <a:t>Beneficio:</a:t>
            </a:r>
            <a:r>
              <a:rPr lang="en-US" sz="3399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 Menores tiempos de respuesta ante accidentes, menos carga para los cuidadores y disponibilidad</a:t>
            </a:r>
          </a:p>
          <a:p>
            <a:pPr algn="just">
              <a:lnSpc>
                <a:spcPts val="3993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8286" y="892202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73493" y="9636313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62982" y="1931376"/>
            <a:ext cx="8273971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Objetivo General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7632" y="3735916"/>
            <a:ext cx="15492736" cy="271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16"/>
              </a:lnSpc>
            </a:pPr>
            <a:r>
              <a:rPr lang="en-US" sz="361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Implementar un sistema tecnológico de acompañamiento inteligente que mejore la calidad de vida y seguridad de los adultos mayores en sus hogares, mientras proporciona tranquilidad y apoyo a sus cuidadores familiares.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8286" y="892202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73493" y="9540619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53936" y="1674074"/>
            <a:ext cx="10780128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Objetivos Especifícos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8269" y="3230836"/>
            <a:ext cx="11388587" cy="6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524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Implementar análisis de vídeo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52563" y="4524374"/>
            <a:ext cx="10871742" cy="6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524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Crear una plataforma que brinde tranquilidad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52563" y="7115176"/>
            <a:ext cx="10871742" cy="6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524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Desarrollar una app web y móvil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269" y="5819775"/>
            <a:ext cx="12768275" cy="6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524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Implementar algoritmos de reconocimiento de imágenes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8269" y="8410577"/>
            <a:ext cx="10630625" cy="61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4" indent="-377822" lvl="1">
              <a:lnSpc>
                <a:spcPts val="5249"/>
              </a:lnSpc>
              <a:spcBef>
                <a:spcPct val="0"/>
              </a:spcBef>
              <a:buFont typeface="Arial"/>
              <a:buChar char="•"/>
            </a:pPr>
            <a:r>
              <a:rPr lang="en-US" sz="3499" strike="noStrike" u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Diseñar un sistema de alertas y notificaciones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-588534">
            <a:off x="9113141" y="506826"/>
            <a:ext cx="4314276" cy="5024568"/>
            <a:chOff x="0" y="0"/>
            <a:chExt cx="13561060" cy="15793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8000" y="508000"/>
              <a:ext cx="12052300" cy="14707870"/>
            </a:xfrm>
            <a:custGeom>
              <a:avLst/>
              <a:gdLst/>
              <a:ahLst/>
              <a:cxnLst/>
              <a:rect r="r" b="b" t="t" l="l"/>
              <a:pathLst>
                <a:path h="14707870" w="12052300">
                  <a:moveTo>
                    <a:pt x="10295890" y="14707870"/>
                  </a:moveTo>
                  <a:lnTo>
                    <a:pt x="0" y="13376911"/>
                  </a:lnTo>
                  <a:lnTo>
                    <a:pt x="1756410" y="0"/>
                  </a:lnTo>
                  <a:lnTo>
                    <a:pt x="12052300" y="1330960"/>
                  </a:lnTo>
                  <a:lnTo>
                    <a:pt x="10295890" y="14707870"/>
                  </a:lnTo>
                  <a:close/>
                </a:path>
              </a:pathLst>
            </a:custGeom>
            <a:blipFill>
              <a:blip r:embed="rId3"/>
              <a:stretch>
                <a:fillRect l="-2163" t="0" r="-2163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-21590"/>
              <a:ext cx="13561061" cy="15815310"/>
            </a:xfrm>
            <a:custGeom>
              <a:avLst/>
              <a:gdLst/>
              <a:ahLst/>
              <a:cxnLst/>
              <a:rect r="r" b="b" t="t" l="l"/>
              <a:pathLst>
                <a:path h="15815310" w="13561061">
                  <a:moveTo>
                    <a:pt x="13561061" y="15815310"/>
                  </a:moveTo>
                  <a:lnTo>
                    <a:pt x="0" y="15815310"/>
                  </a:lnTo>
                  <a:lnTo>
                    <a:pt x="0" y="0"/>
                  </a:lnTo>
                  <a:lnTo>
                    <a:pt x="13561061" y="0"/>
                  </a:lnTo>
                  <a:lnTo>
                    <a:pt x="13561061" y="15815310"/>
                  </a:lnTo>
                  <a:close/>
                </a:path>
              </a:pathLst>
            </a:custGeom>
            <a:blipFill>
              <a:blip r:embed="rId4"/>
              <a:stretch>
                <a:fillRect l="0" t="-144" r="0" b="-144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823777" y="4584419"/>
            <a:ext cx="4896443" cy="5702581"/>
            <a:chOff x="0" y="0"/>
            <a:chExt cx="13561060" cy="15793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08000" y="508000"/>
              <a:ext cx="12052300" cy="14707870"/>
            </a:xfrm>
            <a:custGeom>
              <a:avLst/>
              <a:gdLst/>
              <a:ahLst/>
              <a:cxnLst/>
              <a:rect r="r" b="b" t="t" l="l"/>
              <a:pathLst>
                <a:path h="14707870" w="12052300">
                  <a:moveTo>
                    <a:pt x="10295890" y="14707870"/>
                  </a:moveTo>
                  <a:lnTo>
                    <a:pt x="0" y="13376911"/>
                  </a:lnTo>
                  <a:lnTo>
                    <a:pt x="1756410" y="0"/>
                  </a:lnTo>
                  <a:lnTo>
                    <a:pt x="12052300" y="1330960"/>
                  </a:lnTo>
                  <a:lnTo>
                    <a:pt x="10295890" y="14707870"/>
                  </a:lnTo>
                  <a:close/>
                </a:path>
              </a:pathLst>
            </a:custGeom>
            <a:blipFill>
              <a:blip r:embed="rId5"/>
              <a:stretch>
                <a:fillRect l="-34475" t="0" r="-562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-21590"/>
              <a:ext cx="13561061" cy="15815310"/>
            </a:xfrm>
            <a:custGeom>
              <a:avLst/>
              <a:gdLst/>
              <a:ahLst/>
              <a:cxnLst/>
              <a:rect r="r" b="b" t="t" l="l"/>
              <a:pathLst>
                <a:path h="15815310" w="13561061">
                  <a:moveTo>
                    <a:pt x="13561061" y="15815310"/>
                  </a:moveTo>
                  <a:lnTo>
                    <a:pt x="0" y="15815310"/>
                  </a:lnTo>
                  <a:lnTo>
                    <a:pt x="0" y="0"/>
                  </a:lnTo>
                  <a:lnTo>
                    <a:pt x="13561061" y="0"/>
                  </a:lnTo>
                  <a:lnTo>
                    <a:pt x="13561061" y="15815310"/>
                  </a:lnTo>
                  <a:close/>
                </a:path>
              </a:pathLst>
            </a:custGeom>
            <a:blipFill>
              <a:blip r:embed="rId4"/>
              <a:stretch>
                <a:fillRect l="0" t="-144" r="0" b="-144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-997673">
            <a:off x="13139931" y="129290"/>
            <a:ext cx="4314276" cy="5024568"/>
            <a:chOff x="0" y="0"/>
            <a:chExt cx="13561060" cy="15793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8000" y="508000"/>
              <a:ext cx="12052300" cy="14707870"/>
            </a:xfrm>
            <a:custGeom>
              <a:avLst/>
              <a:gdLst/>
              <a:ahLst/>
              <a:cxnLst/>
              <a:rect r="r" b="b" t="t" l="l"/>
              <a:pathLst>
                <a:path h="14707870" w="12052300">
                  <a:moveTo>
                    <a:pt x="10295890" y="14707870"/>
                  </a:moveTo>
                  <a:lnTo>
                    <a:pt x="0" y="13376911"/>
                  </a:lnTo>
                  <a:lnTo>
                    <a:pt x="1756410" y="0"/>
                  </a:lnTo>
                  <a:lnTo>
                    <a:pt x="12052300" y="1330960"/>
                  </a:lnTo>
                  <a:lnTo>
                    <a:pt x="10295890" y="14707870"/>
                  </a:lnTo>
                  <a:close/>
                </a:path>
              </a:pathLst>
            </a:custGeom>
            <a:blipFill>
              <a:blip r:embed="rId6"/>
              <a:stretch>
                <a:fillRect l="0" t="0" r="-97407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-21590"/>
              <a:ext cx="13561061" cy="15815310"/>
            </a:xfrm>
            <a:custGeom>
              <a:avLst/>
              <a:gdLst/>
              <a:ahLst/>
              <a:cxnLst/>
              <a:rect r="r" b="b" t="t" l="l"/>
              <a:pathLst>
                <a:path h="15815310" w="13561061">
                  <a:moveTo>
                    <a:pt x="13561061" y="15815310"/>
                  </a:moveTo>
                  <a:lnTo>
                    <a:pt x="0" y="15815310"/>
                  </a:lnTo>
                  <a:lnTo>
                    <a:pt x="0" y="0"/>
                  </a:lnTo>
                  <a:lnTo>
                    <a:pt x="13561061" y="0"/>
                  </a:lnTo>
                  <a:lnTo>
                    <a:pt x="13561061" y="15815310"/>
                  </a:lnTo>
                  <a:close/>
                </a:path>
              </a:pathLst>
            </a:custGeom>
            <a:blipFill>
              <a:blip r:embed="rId4"/>
              <a:stretch>
                <a:fillRect l="0" t="-144" r="0" b="-144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1260593" y="3019110"/>
            <a:ext cx="6913898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294635" y="1361628"/>
            <a:ext cx="7015342" cy="1183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87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Solución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0471" y="3661509"/>
            <a:ext cx="7849365" cy="467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7390" indent="-338695" lvl="1">
              <a:lnSpc>
                <a:spcPts val="4706"/>
              </a:lnSpc>
              <a:buFont typeface="Arial"/>
              <a:buChar char="•"/>
            </a:pPr>
            <a:r>
              <a:rPr lang="en-US" sz="3137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Sistema de monitoreo y alerta para adultos mayores</a:t>
            </a:r>
          </a:p>
          <a:p>
            <a:pPr algn="l">
              <a:lnSpc>
                <a:spcPts val="4706"/>
              </a:lnSpc>
            </a:pPr>
          </a:p>
          <a:p>
            <a:pPr algn="l" marL="677390" indent="-338695" lvl="1">
              <a:lnSpc>
                <a:spcPts val="4706"/>
              </a:lnSpc>
              <a:buFont typeface="Arial"/>
              <a:buChar char="•"/>
            </a:pPr>
            <a:r>
              <a:rPr lang="en-US" sz="3137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Reconocimiento de imágenes</a:t>
            </a:r>
          </a:p>
          <a:p>
            <a:pPr algn="l">
              <a:lnSpc>
                <a:spcPts val="4706"/>
              </a:lnSpc>
            </a:pPr>
          </a:p>
          <a:p>
            <a:pPr algn="l" marL="677390" indent="-338695" lvl="1">
              <a:lnSpc>
                <a:spcPts val="4706"/>
              </a:lnSpc>
              <a:buFont typeface="Arial"/>
              <a:buChar char="•"/>
            </a:pPr>
            <a:r>
              <a:rPr lang="en-US" sz="3137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Enviar notificaciones personalizadas </a:t>
            </a:r>
          </a:p>
          <a:p>
            <a:pPr algn="l">
              <a:lnSpc>
                <a:spcPts val="4706"/>
              </a:lnSpc>
            </a:pPr>
          </a:p>
          <a:p>
            <a:pPr algn="l" marL="677390" indent="-338695" lvl="1">
              <a:lnSpc>
                <a:spcPts val="4706"/>
              </a:lnSpc>
              <a:buFont typeface="Arial"/>
              <a:buChar char="•"/>
            </a:pPr>
            <a:r>
              <a:rPr lang="en-US" sz="3137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Generar alertas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73493" y="9779854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547660" y="1531958"/>
            <a:ext cx="11192681" cy="7758925"/>
          </a:xfrm>
          <a:custGeom>
            <a:avLst/>
            <a:gdLst/>
            <a:ahLst/>
            <a:cxnLst/>
            <a:rect r="r" b="b" t="t" l="l"/>
            <a:pathLst>
              <a:path h="7758925" w="11192681">
                <a:moveTo>
                  <a:pt x="0" y="0"/>
                </a:moveTo>
                <a:lnTo>
                  <a:pt x="11192680" y="0"/>
                </a:lnTo>
                <a:lnTo>
                  <a:pt x="11192680" y="7758925"/>
                </a:lnTo>
                <a:lnTo>
                  <a:pt x="0" y="7758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5" r="0" b="-98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20029" y="885058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73493" y="9947318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432846" y="2611414"/>
            <a:ext cx="11422308" cy="7047807"/>
          </a:xfrm>
          <a:custGeom>
            <a:avLst/>
            <a:gdLst/>
            <a:ahLst/>
            <a:cxnLst/>
            <a:rect r="r" b="b" t="t" l="l"/>
            <a:pathLst>
              <a:path h="7047807" w="11422308">
                <a:moveTo>
                  <a:pt x="0" y="0"/>
                </a:moveTo>
                <a:lnTo>
                  <a:pt x="11422308" y="0"/>
                </a:lnTo>
                <a:lnTo>
                  <a:pt x="11422308" y="7047807"/>
                </a:lnTo>
                <a:lnTo>
                  <a:pt x="0" y="7047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6166" y="1224578"/>
            <a:ext cx="14815668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799" spc="-290" b="true">
                <a:solidFill>
                  <a:srgbClr val="3B2615"/>
                </a:solidFill>
                <a:latin typeface="RoxboroughCF Medium"/>
                <a:ea typeface="RoxboroughCF Medium"/>
                <a:cs typeface="RoxboroughCF Medium"/>
                <a:sym typeface="RoxboroughCF Medium"/>
              </a:rPr>
              <a:t>Requerimientos Funcionales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73493" y="9649893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456026" y="2719104"/>
            <a:ext cx="13121160" cy="6527777"/>
          </a:xfrm>
          <a:custGeom>
            <a:avLst/>
            <a:gdLst/>
            <a:ahLst/>
            <a:cxnLst/>
            <a:rect r="r" b="b" t="t" l="l"/>
            <a:pathLst>
              <a:path h="6527777" w="13121160">
                <a:moveTo>
                  <a:pt x="0" y="0"/>
                </a:moveTo>
                <a:lnTo>
                  <a:pt x="13121160" y="0"/>
                </a:lnTo>
                <a:lnTo>
                  <a:pt x="13121160" y="6527777"/>
                </a:lnTo>
                <a:lnTo>
                  <a:pt x="0" y="6527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8286" y="1444152"/>
            <a:ext cx="15741014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799" spc="-290" b="true">
                <a:solidFill>
                  <a:srgbClr val="3B2615"/>
                </a:solidFill>
                <a:latin typeface="RoxboroughCF Medium"/>
                <a:ea typeface="RoxboroughCF Medium"/>
                <a:cs typeface="RoxboroughCF Medium"/>
                <a:sym typeface="RoxboroughCF Medium"/>
              </a:rPr>
              <a:t>Requerimientos No Funcionales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6618" y="2540805"/>
            <a:ext cx="3727816" cy="6970310"/>
            <a:chOff x="0" y="0"/>
            <a:chExt cx="1172842" cy="219299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2842" cy="2192992"/>
            </a:xfrm>
            <a:custGeom>
              <a:avLst/>
              <a:gdLst/>
              <a:ahLst/>
              <a:cxnLst/>
              <a:rect r="r" b="b" t="t" l="l"/>
              <a:pathLst>
                <a:path h="2192992" w="1172842">
                  <a:moveTo>
                    <a:pt x="0" y="0"/>
                  </a:moveTo>
                  <a:lnTo>
                    <a:pt x="1172842" y="0"/>
                  </a:lnTo>
                  <a:lnTo>
                    <a:pt x="1172842" y="2192992"/>
                  </a:lnTo>
                  <a:lnTo>
                    <a:pt x="0" y="2192992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172842" cy="222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11409" y="2550330"/>
            <a:ext cx="3727816" cy="6960785"/>
            <a:chOff x="0" y="0"/>
            <a:chExt cx="1172842" cy="21899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842" cy="2189995"/>
            </a:xfrm>
            <a:custGeom>
              <a:avLst/>
              <a:gdLst/>
              <a:ahLst/>
              <a:cxnLst/>
              <a:rect r="r" b="b" t="t" l="l"/>
              <a:pathLst>
                <a:path h="2189995" w="1172842">
                  <a:moveTo>
                    <a:pt x="0" y="0"/>
                  </a:moveTo>
                  <a:lnTo>
                    <a:pt x="1172842" y="0"/>
                  </a:lnTo>
                  <a:lnTo>
                    <a:pt x="1172842" y="2189995"/>
                  </a:lnTo>
                  <a:lnTo>
                    <a:pt x="0" y="2189995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72842" cy="2218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46200" y="2550330"/>
            <a:ext cx="3727816" cy="6960785"/>
            <a:chOff x="0" y="0"/>
            <a:chExt cx="1172842" cy="21899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2842" cy="2189995"/>
            </a:xfrm>
            <a:custGeom>
              <a:avLst/>
              <a:gdLst/>
              <a:ahLst/>
              <a:cxnLst/>
              <a:rect r="r" b="b" t="t" l="l"/>
              <a:pathLst>
                <a:path h="2189995" w="1172842">
                  <a:moveTo>
                    <a:pt x="0" y="0"/>
                  </a:moveTo>
                  <a:lnTo>
                    <a:pt x="1172842" y="0"/>
                  </a:lnTo>
                  <a:lnTo>
                    <a:pt x="1172842" y="2189995"/>
                  </a:lnTo>
                  <a:lnTo>
                    <a:pt x="0" y="2189995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172842" cy="2218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83566" y="2550330"/>
            <a:ext cx="3718291" cy="6960785"/>
            <a:chOff x="0" y="0"/>
            <a:chExt cx="1169845" cy="218999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9845" cy="2189995"/>
            </a:xfrm>
            <a:custGeom>
              <a:avLst/>
              <a:gdLst/>
              <a:ahLst/>
              <a:cxnLst/>
              <a:rect r="r" b="b" t="t" l="l"/>
              <a:pathLst>
                <a:path h="2189995" w="1169845">
                  <a:moveTo>
                    <a:pt x="0" y="0"/>
                  </a:moveTo>
                  <a:lnTo>
                    <a:pt x="1169845" y="0"/>
                  </a:lnTo>
                  <a:lnTo>
                    <a:pt x="1169845" y="2189995"/>
                  </a:lnTo>
                  <a:lnTo>
                    <a:pt x="0" y="2189995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169845" cy="2218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rot="0">
            <a:off x="1520029" y="101917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273493" y="9922123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18007" y="1257300"/>
            <a:ext cx="14642435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Declaración de alcance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4072" y="2832690"/>
            <a:ext cx="3079052" cy="84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3"/>
              </a:lnSpc>
            </a:pPr>
            <a:r>
              <a:rPr lang="en-US" b="true" sz="2604" i="true" spc="104">
                <a:solidFill>
                  <a:srgbClr val="3B2615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CRITERIOS DE ACEPTACIÓN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20670" y="3045542"/>
            <a:ext cx="3111180" cy="41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5"/>
              </a:lnSpc>
            </a:pPr>
            <a:r>
              <a:rPr lang="en-US" b="true" sz="2504" i="true" spc="100">
                <a:solidFill>
                  <a:srgbClr val="3B2615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EXCLUSIONES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55805" y="3045542"/>
            <a:ext cx="3111180" cy="41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5"/>
              </a:lnSpc>
              <a:spcBef>
                <a:spcPct val="0"/>
              </a:spcBef>
            </a:pPr>
            <a:r>
              <a:rPr lang="en-US" b="true" sz="2504" i="true" spc="100" strike="noStrike" u="none">
                <a:solidFill>
                  <a:srgbClr val="3B2615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RESTRICCIONES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88366" y="3045542"/>
            <a:ext cx="3111180" cy="41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5"/>
              </a:lnSpc>
              <a:spcBef>
                <a:spcPct val="0"/>
              </a:spcBef>
            </a:pPr>
            <a:r>
              <a:rPr lang="en-US" b="true" sz="2504" i="true" spc="100" strike="noStrike" u="none">
                <a:solidFill>
                  <a:srgbClr val="3B2615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SUPUESTOS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4536" y="3907320"/>
            <a:ext cx="3638123" cy="54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608" indent="-222804" lvl="1">
              <a:lnSpc>
                <a:spcPts val="3095"/>
              </a:lnSpc>
              <a:buFont typeface="Arial"/>
              <a:buChar char="•"/>
            </a:pP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Cámaras ya instaladas.</a:t>
            </a:r>
          </a:p>
          <a:p>
            <a:pPr algn="l" marL="445608" indent="-222804" lvl="1">
              <a:lnSpc>
                <a:spcPts val="3095"/>
              </a:lnSpc>
              <a:buFont typeface="Arial"/>
              <a:buChar char="•"/>
            </a:pP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onfiguración inicial no + de 30 minutos.</a:t>
            </a:r>
          </a:p>
          <a:p>
            <a:pPr algn="l" marL="445608" indent="-222804" lvl="1">
              <a:lnSpc>
                <a:spcPts val="3095"/>
              </a:lnSpc>
              <a:buFont typeface="Arial"/>
              <a:buChar char="•"/>
            </a:pP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Detectar 90% de caídas.</a:t>
            </a:r>
          </a:p>
          <a:p>
            <a:pPr algn="l" marL="445608" indent="-222804" lvl="1">
              <a:lnSpc>
                <a:spcPts val="3095"/>
              </a:lnSpc>
              <a:buFont typeface="Arial"/>
              <a:buChar char="•"/>
            </a:pP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Diferenciar entre caída y movimientos cotidianos.</a:t>
            </a:r>
          </a:p>
          <a:p>
            <a:pPr algn="l" marL="445608" indent="-222804" lvl="1">
              <a:lnSpc>
                <a:spcPts val="3095"/>
              </a:lnSpc>
              <a:buFont typeface="Arial"/>
              <a:buChar char="•"/>
            </a:pP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</a:t>
            </a: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nviar alerta en - 15 seg</a:t>
            </a:r>
          </a:p>
          <a:p>
            <a:pPr algn="l" marL="445608" indent="-222804" lvl="1">
              <a:lnSpc>
                <a:spcPts val="3095"/>
              </a:lnSpc>
              <a:buFont typeface="Arial"/>
              <a:buChar char="•"/>
            </a:pP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Los familiares saben  programar recordatorios.</a:t>
            </a:r>
          </a:p>
          <a:p>
            <a:pPr algn="l" marL="445608" indent="-222804" lvl="1">
              <a:lnSpc>
                <a:spcPts val="3095"/>
              </a:lnSpc>
              <a:buFont typeface="Arial"/>
              <a:buChar char="•"/>
            </a:pP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nterfaz sencilla y adaptable.</a:t>
            </a:r>
          </a:p>
          <a:p>
            <a:pPr algn="l" marL="445608" indent="-222804" lvl="1">
              <a:lnSpc>
                <a:spcPts val="3095"/>
              </a:lnSpc>
              <a:buFont typeface="Arial"/>
              <a:buChar char="•"/>
            </a:pP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isponible las 24h/7d.</a:t>
            </a:r>
          </a:p>
          <a:p>
            <a:pPr algn="l" marL="445608" indent="-222804" lvl="1">
              <a:lnSpc>
                <a:spcPts val="3095"/>
              </a:lnSpc>
              <a:buFont typeface="Arial"/>
              <a:buChar char="•"/>
            </a:pP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</a:t>
            </a:r>
            <a:r>
              <a:rPr lang="en-US" sz="2063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atos en una base de datos.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78084" y="3907320"/>
            <a:ext cx="3658566" cy="583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Email o WhatsApp.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quipos existentes.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 reemplaza consultas médicas.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mágenes en tiempo real.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No se integra con servicios de emergencia.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ás de una cámara.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ragmentos de video.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Análisis de audio o reconocimiento de voz.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No hay 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venta o soporte.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El sistema no contempla vigilancia humana.</a:t>
            </a:r>
          </a:p>
          <a:p>
            <a:pPr algn="l">
              <a:lnSpc>
                <a:spcPts val="3075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246200" y="3907320"/>
            <a:ext cx="3587129" cy="349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Internet estable y de buena calidad.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imitada a modelos de cámaras compatibles.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argen de error aceptable.</a:t>
            </a:r>
          </a:p>
          <a:p>
            <a:pPr algn="just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uenten con dispositivos móviles o computadores.</a:t>
            </a:r>
          </a:p>
          <a:p>
            <a:pPr algn="just">
              <a:lnSpc>
                <a:spcPts val="307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049680" y="3907320"/>
            <a:ext cx="3718291" cy="583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Cámara IP compatible y protocolo RTSP. 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nternet y ancho de banda.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uentan con teléfonos o computadoras.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onsentimiento  para ser monitoreado.</a:t>
            </a:r>
          </a:p>
          <a:p>
            <a:pPr algn="l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utorizan políticas de privacidad y cumplimiento normativo.</a:t>
            </a:r>
          </a:p>
          <a:p>
            <a:pPr algn="just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sume costos de arquitectura y licencias.</a:t>
            </a:r>
          </a:p>
          <a:p>
            <a:pPr algn="just" marL="442596" indent="-221298" lvl="1">
              <a:lnSpc>
                <a:spcPts val="3075"/>
              </a:lnSpc>
              <a:buFont typeface="Arial"/>
              <a:buChar char="•"/>
            </a:pP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-US" sz="205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onfiguración sin soporte presencial.</a:t>
            </a:r>
          </a:p>
          <a:p>
            <a:pPr algn="ctr">
              <a:lnSpc>
                <a:spcPts val="3075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73493" y="9550325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12564" y="3275202"/>
            <a:ext cx="17462872" cy="4977782"/>
          </a:xfrm>
          <a:custGeom>
            <a:avLst/>
            <a:gdLst/>
            <a:ahLst/>
            <a:cxnLst/>
            <a:rect r="r" b="b" t="t" l="l"/>
            <a:pathLst>
              <a:path h="4977782" w="17462872">
                <a:moveTo>
                  <a:pt x="0" y="0"/>
                </a:moveTo>
                <a:lnTo>
                  <a:pt x="17462872" y="0"/>
                </a:lnTo>
                <a:lnTo>
                  <a:pt x="17462872" y="4977782"/>
                </a:lnTo>
                <a:lnTo>
                  <a:pt x="0" y="4977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36649" y="1571625"/>
            <a:ext cx="7614703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b="true" sz="8799" spc="-290">
                <a:solidFill>
                  <a:srgbClr val="3B2615"/>
                </a:solidFill>
                <a:latin typeface="RoxboroughCF Medium"/>
                <a:ea typeface="RoxboroughCF Medium"/>
                <a:cs typeface="RoxboroughCF Medium"/>
                <a:sym typeface="RoxboroughCF Medium"/>
              </a:rPr>
              <a:t>Cronograma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277482" y="9248775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270525" y="3667824"/>
            <a:ext cx="5782776" cy="852298"/>
            <a:chOff x="0" y="0"/>
            <a:chExt cx="1438197" cy="2119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197" cy="211970"/>
            </a:xfrm>
            <a:custGeom>
              <a:avLst/>
              <a:gdLst/>
              <a:ahLst/>
              <a:cxnLst/>
              <a:rect r="r" b="b" t="t" l="l"/>
              <a:pathLst>
                <a:path h="211970" w="1438197">
                  <a:moveTo>
                    <a:pt x="0" y="0"/>
                  </a:moveTo>
                  <a:lnTo>
                    <a:pt x="1438197" y="0"/>
                  </a:lnTo>
                  <a:lnTo>
                    <a:pt x="1438197" y="211970"/>
                  </a:lnTo>
                  <a:lnTo>
                    <a:pt x="0" y="211970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8197" cy="240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1040" y="2067077"/>
            <a:ext cx="14642435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Hitos y Plazos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00369" y="3850504"/>
            <a:ext cx="5123087" cy="4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ARRANQUE DEL PROYECTO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98996" y="3667824"/>
            <a:ext cx="3515890" cy="852298"/>
            <a:chOff x="0" y="0"/>
            <a:chExt cx="874414" cy="2119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4414" cy="211970"/>
            </a:xfrm>
            <a:custGeom>
              <a:avLst/>
              <a:gdLst/>
              <a:ahLst/>
              <a:cxnLst/>
              <a:rect r="r" b="b" t="t" l="l"/>
              <a:pathLst>
                <a:path h="211970" w="874414">
                  <a:moveTo>
                    <a:pt x="0" y="0"/>
                  </a:moveTo>
                  <a:lnTo>
                    <a:pt x="874414" y="0"/>
                  </a:lnTo>
                  <a:lnTo>
                    <a:pt x="874414" y="211970"/>
                  </a:lnTo>
                  <a:lnTo>
                    <a:pt x="0" y="211970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74414" cy="240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521233" y="3850504"/>
            <a:ext cx="2871415" cy="4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HITO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859479" y="3667824"/>
            <a:ext cx="4150746" cy="852298"/>
            <a:chOff x="0" y="0"/>
            <a:chExt cx="1032305" cy="211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2305" cy="211970"/>
            </a:xfrm>
            <a:custGeom>
              <a:avLst/>
              <a:gdLst/>
              <a:ahLst/>
              <a:cxnLst/>
              <a:rect r="r" b="b" t="t" l="l"/>
              <a:pathLst>
                <a:path h="211970" w="1032305">
                  <a:moveTo>
                    <a:pt x="0" y="0"/>
                  </a:moveTo>
                  <a:lnTo>
                    <a:pt x="1032305" y="0"/>
                  </a:lnTo>
                  <a:lnTo>
                    <a:pt x="1032305" y="211970"/>
                  </a:lnTo>
                  <a:lnTo>
                    <a:pt x="0" y="211970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32305" cy="240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149222" y="3850504"/>
            <a:ext cx="3571259" cy="4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4 SEMANAS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270525" y="4727814"/>
            <a:ext cx="5782776" cy="937152"/>
            <a:chOff x="0" y="0"/>
            <a:chExt cx="1438197" cy="2330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38197" cy="233073"/>
            </a:xfrm>
            <a:custGeom>
              <a:avLst/>
              <a:gdLst/>
              <a:ahLst/>
              <a:cxnLst/>
              <a:rect r="r" b="b" t="t" l="l"/>
              <a:pathLst>
                <a:path h="233073" w="1438197">
                  <a:moveTo>
                    <a:pt x="0" y="0"/>
                  </a:moveTo>
                  <a:lnTo>
                    <a:pt x="1438197" y="0"/>
                  </a:lnTo>
                  <a:lnTo>
                    <a:pt x="1438197" y="233073"/>
                  </a:lnTo>
                  <a:lnTo>
                    <a:pt x="0" y="233073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438197" cy="261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637758" y="4723981"/>
            <a:ext cx="5123087" cy="89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IMPLEMENTACIÓN EN ENTORNO DE PRUEBAS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98996" y="4727814"/>
            <a:ext cx="3515890" cy="937152"/>
            <a:chOff x="0" y="0"/>
            <a:chExt cx="874414" cy="23307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4414" cy="233073"/>
            </a:xfrm>
            <a:custGeom>
              <a:avLst/>
              <a:gdLst/>
              <a:ahLst/>
              <a:cxnLst/>
              <a:rect r="r" b="b" t="t" l="l"/>
              <a:pathLst>
                <a:path h="233073" w="874414">
                  <a:moveTo>
                    <a:pt x="0" y="0"/>
                  </a:moveTo>
                  <a:lnTo>
                    <a:pt x="874414" y="0"/>
                  </a:lnTo>
                  <a:lnTo>
                    <a:pt x="874414" y="233073"/>
                  </a:lnTo>
                  <a:lnTo>
                    <a:pt x="0" y="233073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874414" cy="261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521233" y="4910494"/>
            <a:ext cx="2871415" cy="4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HITO 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859479" y="4727814"/>
            <a:ext cx="4150746" cy="937152"/>
            <a:chOff x="0" y="0"/>
            <a:chExt cx="1032305" cy="2330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32305" cy="233073"/>
            </a:xfrm>
            <a:custGeom>
              <a:avLst/>
              <a:gdLst/>
              <a:ahLst/>
              <a:cxnLst/>
              <a:rect r="r" b="b" t="t" l="l"/>
              <a:pathLst>
                <a:path h="233073" w="1032305">
                  <a:moveTo>
                    <a:pt x="0" y="0"/>
                  </a:moveTo>
                  <a:lnTo>
                    <a:pt x="1032305" y="0"/>
                  </a:lnTo>
                  <a:lnTo>
                    <a:pt x="1032305" y="233073"/>
                  </a:lnTo>
                  <a:lnTo>
                    <a:pt x="0" y="233073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032305" cy="261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149222" y="4910494"/>
            <a:ext cx="3571259" cy="4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6 SEMANAS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274150" y="5783528"/>
            <a:ext cx="5782776" cy="940557"/>
            <a:chOff x="0" y="0"/>
            <a:chExt cx="1438197" cy="233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38197" cy="233920"/>
            </a:xfrm>
            <a:custGeom>
              <a:avLst/>
              <a:gdLst/>
              <a:ahLst/>
              <a:cxnLst/>
              <a:rect r="r" b="b" t="t" l="l"/>
              <a:pathLst>
                <a:path h="233920" w="1438197">
                  <a:moveTo>
                    <a:pt x="0" y="0"/>
                  </a:moveTo>
                  <a:lnTo>
                    <a:pt x="1438197" y="0"/>
                  </a:lnTo>
                  <a:lnTo>
                    <a:pt x="1438197" y="233920"/>
                  </a:lnTo>
                  <a:lnTo>
                    <a:pt x="0" y="233920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438197" cy="262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637758" y="5826891"/>
            <a:ext cx="5123087" cy="89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DESPLIEGUE EN AMBIENTE DE PRODUCCIÓN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202621" y="5783528"/>
            <a:ext cx="3515890" cy="940557"/>
            <a:chOff x="0" y="0"/>
            <a:chExt cx="874414" cy="233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4414" cy="233920"/>
            </a:xfrm>
            <a:custGeom>
              <a:avLst/>
              <a:gdLst/>
              <a:ahLst/>
              <a:cxnLst/>
              <a:rect r="r" b="b" t="t" l="l"/>
              <a:pathLst>
                <a:path h="233920" w="874414">
                  <a:moveTo>
                    <a:pt x="0" y="0"/>
                  </a:moveTo>
                  <a:lnTo>
                    <a:pt x="874414" y="0"/>
                  </a:lnTo>
                  <a:lnTo>
                    <a:pt x="874414" y="233920"/>
                  </a:lnTo>
                  <a:lnTo>
                    <a:pt x="0" y="233920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874414" cy="262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524858" y="6055831"/>
            <a:ext cx="2871415" cy="4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HITO 3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863104" y="5783528"/>
            <a:ext cx="4150746" cy="940557"/>
            <a:chOff x="0" y="0"/>
            <a:chExt cx="1032305" cy="2339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32305" cy="233920"/>
            </a:xfrm>
            <a:custGeom>
              <a:avLst/>
              <a:gdLst/>
              <a:ahLst/>
              <a:cxnLst/>
              <a:rect r="r" b="b" t="t" l="l"/>
              <a:pathLst>
                <a:path h="233920" w="1032305">
                  <a:moveTo>
                    <a:pt x="0" y="0"/>
                  </a:moveTo>
                  <a:lnTo>
                    <a:pt x="1032305" y="0"/>
                  </a:lnTo>
                  <a:lnTo>
                    <a:pt x="1032305" y="233920"/>
                  </a:lnTo>
                  <a:lnTo>
                    <a:pt x="0" y="233920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032305" cy="262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099955" y="6055831"/>
            <a:ext cx="3662543" cy="4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5 SEMANAS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2270525" y="6873142"/>
            <a:ext cx="5782776" cy="1367941"/>
            <a:chOff x="0" y="0"/>
            <a:chExt cx="1438197" cy="3402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38197" cy="340212"/>
            </a:xfrm>
            <a:custGeom>
              <a:avLst/>
              <a:gdLst/>
              <a:ahLst/>
              <a:cxnLst/>
              <a:rect r="r" b="b" t="t" l="l"/>
              <a:pathLst>
                <a:path h="340212" w="1438197">
                  <a:moveTo>
                    <a:pt x="0" y="0"/>
                  </a:moveTo>
                  <a:lnTo>
                    <a:pt x="1438197" y="0"/>
                  </a:lnTo>
                  <a:lnTo>
                    <a:pt x="1438197" y="340212"/>
                  </a:lnTo>
                  <a:lnTo>
                    <a:pt x="0" y="340212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438197" cy="36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2600369" y="6886010"/>
            <a:ext cx="5123087" cy="135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IMPLEMENTACIÓN EXITOSA Y CONFIRMACIÓN EN PRODUCCIÓN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198996" y="6873142"/>
            <a:ext cx="3515890" cy="1367941"/>
            <a:chOff x="0" y="0"/>
            <a:chExt cx="874414" cy="3402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74414" cy="340212"/>
            </a:xfrm>
            <a:custGeom>
              <a:avLst/>
              <a:gdLst/>
              <a:ahLst/>
              <a:cxnLst/>
              <a:rect r="r" b="b" t="t" l="l"/>
              <a:pathLst>
                <a:path h="340212" w="874414">
                  <a:moveTo>
                    <a:pt x="0" y="0"/>
                  </a:moveTo>
                  <a:lnTo>
                    <a:pt x="874414" y="0"/>
                  </a:lnTo>
                  <a:lnTo>
                    <a:pt x="874414" y="340212"/>
                  </a:lnTo>
                  <a:lnTo>
                    <a:pt x="0" y="340212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874414" cy="36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8524858" y="7313644"/>
            <a:ext cx="2871415" cy="4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HITO 4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859479" y="6873142"/>
            <a:ext cx="4150746" cy="1367941"/>
            <a:chOff x="0" y="0"/>
            <a:chExt cx="1032305" cy="3402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32305" cy="340212"/>
            </a:xfrm>
            <a:custGeom>
              <a:avLst/>
              <a:gdLst/>
              <a:ahLst/>
              <a:cxnLst/>
              <a:rect r="r" b="b" t="t" l="l"/>
              <a:pathLst>
                <a:path h="340212" w="1032305">
                  <a:moveTo>
                    <a:pt x="0" y="0"/>
                  </a:moveTo>
                  <a:lnTo>
                    <a:pt x="1032305" y="0"/>
                  </a:lnTo>
                  <a:lnTo>
                    <a:pt x="1032305" y="340212"/>
                  </a:lnTo>
                  <a:lnTo>
                    <a:pt x="0" y="340212"/>
                  </a:lnTo>
                  <a:close/>
                </a:path>
              </a:pathLst>
            </a:custGeom>
            <a:solidFill>
              <a:srgbClr val="ABA394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032305" cy="368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6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099955" y="7313644"/>
            <a:ext cx="3662543" cy="43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8"/>
              </a:lnSpc>
            </a:pPr>
            <a:r>
              <a:rPr lang="en-US" b="true" sz="2605" spc="67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3 SEMANAS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273493" y="9248775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33129" y="3761480"/>
            <a:ext cx="17421743" cy="2773564"/>
          </a:xfrm>
          <a:custGeom>
            <a:avLst/>
            <a:gdLst/>
            <a:ahLst/>
            <a:cxnLst/>
            <a:rect r="r" b="b" t="t" l="l"/>
            <a:pathLst>
              <a:path h="2773564" w="17421743">
                <a:moveTo>
                  <a:pt x="0" y="0"/>
                </a:moveTo>
                <a:lnTo>
                  <a:pt x="17421742" y="0"/>
                </a:lnTo>
                <a:lnTo>
                  <a:pt x="17421742" y="2773565"/>
                </a:lnTo>
                <a:lnTo>
                  <a:pt x="0" y="2773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36649" y="1784806"/>
            <a:ext cx="7614703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b="true" sz="8799" spc="-290">
                <a:solidFill>
                  <a:srgbClr val="3B2615"/>
                </a:solidFill>
                <a:latin typeface="RoxboroughCF Medium"/>
                <a:ea typeface="RoxboroughCF Medium"/>
                <a:cs typeface="RoxboroughCF Medium"/>
                <a:sym typeface="RoxboroughCF Medium"/>
              </a:rPr>
              <a:t>EDT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273493" y="9553575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3309490" y="2675127"/>
            <a:ext cx="11669021" cy="6578410"/>
          </a:xfrm>
          <a:custGeom>
            <a:avLst/>
            <a:gdLst/>
            <a:ahLst/>
            <a:cxnLst/>
            <a:rect r="r" b="b" t="t" l="l"/>
            <a:pathLst>
              <a:path h="6578410" w="11669021">
                <a:moveTo>
                  <a:pt x="0" y="0"/>
                </a:moveTo>
                <a:lnTo>
                  <a:pt x="11669020" y="0"/>
                </a:lnTo>
                <a:lnTo>
                  <a:pt x="11669020" y="6578411"/>
                </a:lnTo>
                <a:lnTo>
                  <a:pt x="0" y="6578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3998" y="1270820"/>
            <a:ext cx="14300003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Esquema de funcionamiento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518286" y="1038225"/>
            <a:ext cx="15247943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1277482" y="9248775"/>
            <a:ext cx="15741014" cy="0"/>
          </a:xfrm>
          <a:prstGeom prst="line">
            <a:avLst/>
          </a:prstGeom>
          <a:ln cap="flat" w="9525">
            <a:solidFill>
              <a:srgbClr val="3B26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951047" y="469123"/>
            <a:ext cx="8385906" cy="272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6"/>
              </a:lnSpc>
            </a:pPr>
            <a:r>
              <a:rPr lang="en-US" sz="1654" spc="196">
                <a:solidFill>
                  <a:srgbClr val="3B2615"/>
                </a:solidFill>
                <a:latin typeface="Lora"/>
                <a:ea typeface="Lora"/>
                <a:cs typeface="Lora"/>
                <a:sym typeface="Lora"/>
              </a:rPr>
              <a:t>VIGILIA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6772" y="1571625"/>
            <a:ext cx="14642435" cy="110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8799" spc="-290">
                <a:solidFill>
                  <a:srgbClr val="3B2615"/>
                </a:solidFill>
                <a:latin typeface="RoxboroughCF"/>
                <a:ea typeface="RoxboroughCF"/>
                <a:cs typeface="RoxboroughCF"/>
                <a:sym typeface="RoxboroughCF"/>
              </a:rPr>
              <a:t>Conclusión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42167" y="3225834"/>
            <a:ext cx="14024062" cy="356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3"/>
              </a:lnSpc>
            </a:pPr>
            <a:r>
              <a:rPr lang="en-US" sz="36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Innovación y mejora de calidad de vida</a:t>
            </a:r>
          </a:p>
          <a:p>
            <a:pPr algn="l">
              <a:lnSpc>
                <a:spcPts val="7243"/>
              </a:lnSpc>
            </a:pPr>
            <a:r>
              <a:rPr lang="en-US" sz="36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Disminuye la carga emocional y física de los cuidadores.</a:t>
            </a:r>
          </a:p>
          <a:p>
            <a:pPr algn="l">
              <a:lnSpc>
                <a:spcPts val="7243"/>
              </a:lnSpc>
            </a:pPr>
            <a:r>
              <a:rPr lang="en-US" sz="36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•Reducción de costos y fácil implementación.</a:t>
            </a:r>
          </a:p>
          <a:p>
            <a:pPr algn="l">
              <a:lnSpc>
                <a:spcPts val="7243"/>
              </a:lnSpc>
            </a:pPr>
            <a:r>
              <a:rPr lang="en-US" sz="363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• Herramienta escalable y sostenible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DAGyhq3LyBM</dc:identifier>
  <dcterms:modified xsi:type="dcterms:W3CDTF">2011-08-01T06:04:30Z</dcterms:modified>
  <cp:revision>1</cp:revision>
  <dc:title>Capstone</dc:title>
</cp:coreProperties>
</file>